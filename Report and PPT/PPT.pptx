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70" r:id="rId7"/>
    <p:sldId id="271" r:id="rId8"/>
    <p:sldId id="272" r:id="rId9"/>
    <p:sldId id="273" r:id="rId10"/>
    <p:sldId id="274" r:id="rId11"/>
    <p:sldId id="275" r:id="rId12"/>
    <p:sldId id="268" r:id="rId13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400" y="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061807" cy="590949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 Quantitative Analysis of LGBTQIA+ Workplace Inclusion in the Indian Information Technology Sector</a:t>
            </a:r>
            <a:endParaRPr lang="en-US" sz="2000" i="1" spc="-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Kamya Jindal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Ro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ll Number: 2210991730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Dr. Preeti Saini, Professor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Department of </a:t>
            </a:r>
            <a:r>
              <a:rPr lang="en-US" sz="2000" b="0" strike="noStrike" spc="-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The Indian IT industry has revenues of approximately US$283 billion and a workforce of 5.8 million (FY2025, NASSCOM).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Landmark legal milestones: Navtej Singh Johar v. Union of India (2018) decriminalised consensual same-sex relations; Jane Kaushik (2025) judgment mandated Equal Opportunity Policy guidelines for employers.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Legal reform alone cannot guarantee psychological safety or equitable workplace experiences for LGBTQIA+ employees.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DEI Framework: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DEI encompasses Diversity (representation), Equity (equal access and opportunity), and Inclusion (a culture where employees feel valued and safe).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Applied to LGBTQIA+ inclusion, this framework examines Policy Structures, Representation, and Cultural Acceptance together — rather than focusing on numbers alone.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BCG (2023a) identified a statistically significant relationship between inclusion and productivity in Indian companies.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International studies show that inclusive leadership reduces turnover and strengthens psychological safety (BCG 2023b).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Structural barriers: fewer than 20% of transgender individuals complete secondary education (NHRC) — a critical but under-studied area.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Three gaps in existing literature: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(1) Limited quantitative studies on the Indian IT sector; (2) few analyses combining DEI metrics with legal developments; (3) near-total absence of longitudinal data on LGBTQIA+ retention in India.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Quantitative research design based on secondary data analysis of publicly available industry datasets, corporate benchmarking reports, and judicial records.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IWEI (India Workplace Equality Index):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Developed by Pride Circle, Keshav Suri Foundation, and Stonewall UK. Assesses organisational policies, leadership commitment, and employee culture across 150+ companies in 20+ industries.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BCG BLISS Index: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Measures employees’ lived inclusion experiences across dimensions of bias exposure, leadership behaviour, and psychological safety.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Data sources: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NASSCOM (2025), BCG (2023a, 2023b), IWEI (2024), NHRC national surveys, and HRC’s Corporate Equality Index (CEI) for the US technology sector.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IWEI (India Workplace Equality Index):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Assess organisational LGBTQIA+ inclusion policies and culture. Developer: Pride Circle, Keshav Suri Foundation &amp; Stonewall UK.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BCG BLISS Index: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Measure employees’ lived inclusion experience and attrition risk. Developer: Boston Consulting Group.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CEI (Corporate Equality Index):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Comparative benchmarking against US technology sector. Developer: Human Rights Campaign (HRC).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NASSCOM Industry Data: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Macroeconomic and workforce data for the Indian IT sector. Developer: NASSCOM.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Kaggle DEI Dataset: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Supplementary quantitative DEI measures. Developer: Kaggle / Kerem Kurt.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 / Results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Industry revenue (FY2025): US$283 billion (5.1% YoY growth) | Total IT workforce: 5.8 million employees (NASSCOM 2025)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Productivity in inclusive firms: 68% reported gains | Hiring advantage: 79% improved diverse hiring | Employee performance: 1.5× higher likelihood of best effort (BCG 2023a)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Attrition risk (bias exposure): 1.4× more likely to leave | Attrition reduction (BLISS Q1→Median): ~50% decrease (BCG 2023b)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LGBTQIA+ open disclosure rate in IT: only 2–3% of workforce | ~25% of LGBTQIA+ employees report harassment (BCG 2023a)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Transgender secondary education completion: &lt;20% (NHRC Survey) | India vs USA: 98% of US CEI-rated employers include LGBTQIA+ in formal non-discrimination policies; Indian IT firms continue to lag on IWEI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LGBTQIA+ inclusion in the Indian IT sector is both a social imperative and a measurable business advantage.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substantial gap persists between policy commitments and the lived experiences of LGBTQIA+ employees. Legal reform is insufficient on its own.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Closing the gap requires: visible leadership accountability, consistent policy implementation, and culturally embedded psychological safety.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studies on LGBTQIA+ career trajectories; qualitative research in mid-size and domestic IT companies; evaluate effectiveness of ERGs, manager training, inclusive onboarding; integrate intersectionality (caste, disability, gender) in future DEI analyses.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BCG. (2023a). Why inclusion matters to businesses in India. Boston Consulting Group.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BCG. (2023b). Inclusion isn’t just nice. It’s necessary. Boston Consulting Group.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BCG. (2021). Why the first year matters for LGBTQ+ employees. Boston Consulting Group.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Citizens for Justice and Peace. (2025). From recognition to rights: Supreme Court’s Jane Kaushik judgment.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 Workplace Equality Index. (2024). IWEI Report 2024. Pride Circle &amp; Keshav Suri Foundation.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NASSCOM. (2025). Technology sector in India: Strategic review 2025.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Navtej Singh Johar v. Union of India. (2018). Supreme Court of India. | NHRC. National survey on transgender persons. Government of India.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Rights Campaign. (2026). Equality rising report. | Kaggle. Diversity, Equity and Inclusion Measures Dataset.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34705</TotalTime>
  <Words>965</Words>
  <Application>Microsoft Office PowerPoint</Application>
  <PresentationFormat>On-screen Show (4:3)</PresentationFormat>
  <Paragraphs>65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Kamya Jindal</cp:lastModifiedBy>
  <cp:revision>2301</cp:revision>
  <dcterms:created xsi:type="dcterms:W3CDTF">2010-04-09T07:36:15Z</dcterms:created>
  <dcterms:modified xsi:type="dcterms:W3CDTF">2026-05-02T18:11:35Z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